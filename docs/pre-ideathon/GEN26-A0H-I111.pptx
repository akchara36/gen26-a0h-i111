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libri (MS) Bold" charset="1" panose="020F0702030404030204"/>
      <p:regular r:id="rId14"/>
    </p:embeddedFont>
    <p:embeddedFont>
      <p:font typeface="Cambria Bold" charset="1" panose="02040803050406030204"/>
      <p:regular r:id="rId15"/>
    </p:embeddedFont>
    <p:embeddedFont>
      <p:font typeface="Calibri (MS) Italics" charset="1" panose="020F05020202040A0204"/>
      <p:regular r:id="rId16"/>
    </p:embeddedFont>
    <p:embeddedFont>
      <p:font typeface="Calibri (MS)" charset="1" panose="020F0502020204030204"/>
      <p:regular r:id="rId17"/>
    </p:embeddedFont>
    <p:embeddedFont>
      <p:font typeface="Arial" charset="1" panose="020B0604020202020204"/>
      <p:regular r:id="rId18"/>
    </p:embeddedFont>
    <p:embeddedFont>
      <p:font typeface="Arial Bold" charset="1" panose="020B07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2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3250475" y="-1845697"/>
            <a:ext cx="5567067" cy="4824412"/>
            <a:chOff x="0" y="0"/>
            <a:chExt cx="7422756" cy="6432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22769" cy="6432550"/>
            </a:xfrm>
            <a:custGeom>
              <a:avLst/>
              <a:gdLst/>
              <a:ahLst/>
              <a:cxnLst/>
              <a:rect r="r" b="b" t="t" l="l"/>
              <a:pathLst>
                <a:path h="6432550" w="7422769">
                  <a:moveTo>
                    <a:pt x="0" y="3216275"/>
                  </a:moveTo>
                  <a:lnTo>
                    <a:pt x="1608074" y="0"/>
                  </a:lnTo>
                  <a:lnTo>
                    <a:pt x="5814568" y="0"/>
                  </a:lnTo>
                  <a:lnTo>
                    <a:pt x="7422769" y="3216275"/>
                  </a:lnTo>
                  <a:lnTo>
                    <a:pt x="5814568" y="6432550"/>
                  </a:lnTo>
                  <a:lnTo>
                    <a:pt x="1608074" y="64325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187" t="0" r="-61187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5774219" y="2525554"/>
            <a:ext cx="5567067" cy="4824412"/>
            <a:chOff x="0" y="0"/>
            <a:chExt cx="7422756" cy="6432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22769" cy="6432550"/>
            </a:xfrm>
            <a:custGeom>
              <a:avLst/>
              <a:gdLst/>
              <a:ahLst/>
              <a:cxnLst/>
              <a:rect r="r" b="b" t="t" l="l"/>
              <a:pathLst>
                <a:path h="6432550" w="7422769">
                  <a:moveTo>
                    <a:pt x="0" y="3216275"/>
                  </a:moveTo>
                  <a:lnTo>
                    <a:pt x="1608074" y="0"/>
                  </a:lnTo>
                  <a:lnTo>
                    <a:pt x="5814568" y="0"/>
                  </a:lnTo>
                  <a:lnTo>
                    <a:pt x="7422769" y="3216275"/>
                  </a:lnTo>
                  <a:lnTo>
                    <a:pt x="5814568" y="6432550"/>
                  </a:lnTo>
                  <a:lnTo>
                    <a:pt x="1608074" y="6432550"/>
                  </a:lnTo>
                  <a:close/>
                </a:path>
              </a:pathLst>
            </a:custGeom>
            <a:solidFill>
              <a:srgbClr val="026855">
                <a:alpha val="5882"/>
              </a:srgbClr>
            </a:solid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13250475" y="6896805"/>
            <a:ext cx="5567067" cy="4824412"/>
            <a:chOff x="0" y="0"/>
            <a:chExt cx="7422756" cy="64325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22769" cy="6432550"/>
            </a:xfrm>
            <a:custGeom>
              <a:avLst/>
              <a:gdLst/>
              <a:ahLst/>
              <a:cxnLst/>
              <a:rect r="r" b="b" t="t" l="l"/>
              <a:pathLst>
                <a:path h="6432550" w="7422769">
                  <a:moveTo>
                    <a:pt x="0" y="3216275"/>
                  </a:moveTo>
                  <a:lnTo>
                    <a:pt x="1608074" y="0"/>
                  </a:lnTo>
                  <a:lnTo>
                    <a:pt x="5814568" y="0"/>
                  </a:lnTo>
                  <a:lnTo>
                    <a:pt x="7422769" y="3216275"/>
                  </a:lnTo>
                  <a:lnTo>
                    <a:pt x="5814568" y="6432550"/>
                  </a:lnTo>
                  <a:lnTo>
                    <a:pt x="1608074" y="64325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187" t="0" r="-61187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9920040" y="4766310"/>
            <a:ext cx="871080" cy="754380"/>
            <a:chOff x="0" y="0"/>
            <a:chExt cx="116144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1415" cy="1005840"/>
            </a:xfrm>
            <a:custGeom>
              <a:avLst/>
              <a:gdLst/>
              <a:ahLst/>
              <a:cxnLst/>
              <a:rect r="r" b="b" t="t" l="l"/>
              <a:pathLst>
                <a:path h="1005840" w="1161415">
                  <a:moveTo>
                    <a:pt x="0" y="502920"/>
                  </a:moveTo>
                  <a:lnTo>
                    <a:pt x="251460" y="0"/>
                  </a:lnTo>
                  <a:lnTo>
                    <a:pt x="909955" y="0"/>
                  </a:lnTo>
                  <a:lnTo>
                    <a:pt x="1161415" y="502920"/>
                  </a:lnTo>
                  <a:lnTo>
                    <a:pt x="909955" y="1005840"/>
                  </a:lnTo>
                  <a:lnTo>
                    <a:pt x="251460" y="1005840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6274377" y="2592324"/>
            <a:ext cx="506816" cy="438912"/>
            <a:chOff x="0" y="0"/>
            <a:chExt cx="67575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5767" cy="585216"/>
            </a:xfrm>
            <a:custGeom>
              <a:avLst/>
              <a:gdLst/>
              <a:ahLst/>
              <a:cxnLst/>
              <a:rect r="r" b="b" t="t" l="l"/>
              <a:pathLst>
                <a:path h="585216" w="675767">
                  <a:moveTo>
                    <a:pt x="0" y="292608"/>
                  </a:moveTo>
                  <a:lnTo>
                    <a:pt x="146304" y="0"/>
                  </a:lnTo>
                  <a:lnTo>
                    <a:pt x="529463" y="0"/>
                  </a:lnTo>
                  <a:lnTo>
                    <a:pt x="675767" y="292608"/>
                  </a:lnTo>
                  <a:lnTo>
                    <a:pt x="529463" y="585216"/>
                  </a:lnTo>
                  <a:lnTo>
                    <a:pt x="146304" y="585216"/>
                  </a:lnTo>
                  <a:close/>
                </a:path>
              </a:pathLst>
            </a:custGeom>
            <a:solidFill>
              <a:srgbClr val="7AC143">
                <a:alpha val="4862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0303088" y="2160270"/>
            <a:ext cx="6414335" cy="5554980"/>
            <a:chOff x="0" y="0"/>
            <a:chExt cx="8552447" cy="7406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52434" cy="7406640"/>
            </a:xfrm>
            <a:custGeom>
              <a:avLst/>
              <a:gdLst/>
              <a:ahLst/>
              <a:cxnLst/>
              <a:rect r="r" b="b" t="t" l="l"/>
              <a:pathLst>
                <a:path h="7406640" w="8552434">
                  <a:moveTo>
                    <a:pt x="0" y="3703320"/>
                  </a:moveTo>
                  <a:lnTo>
                    <a:pt x="1851660" y="0"/>
                  </a:lnTo>
                  <a:lnTo>
                    <a:pt x="6700774" y="0"/>
                  </a:lnTo>
                  <a:lnTo>
                    <a:pt x="8552434" y="3703320"/>
                  </a:lnTo>
                  <a:lnTo>
                    <a:pt x="6700774" y="7406640"/>
                  </a:lnTo>
                  <a:lnTo>
                    <a:pt x="1851660" y="7406640"/>
                  </a:lnTo>
                  <a:close/>
                </a:path>
              </a:pathLst>
            </a:custGeom>
            <a:solidFill>
              <a:srgbClr val="026855">
                <a:alpha val="2000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0119255" y="7186612"/>
            <a:ext cx="1295600" cy="1125855"/>
            <a:chOff x="0" y="0"/>
            <a:chExt cx="1727467" cy="1501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27454" cy="1501140"/>
            </a:xfrm>
            <a:custGeom>
              <a:avLst/>
              <a:gdLst/>
              <a:ahLst/>
              <a:cxnLst/>
              <a:rect r="r" b="b" t="t" l="l"/>
              <a:pathLst>
                <a:path h="1501140" w="1727454">
                  <a:moveTo>
                    <a:pt x="0" y="750570"/>
                  </a:moveTo>
                  <a:lnTo>
                    <a:pt x="375285" y="0"/>
                  </a:lnTo>
                  <a:lnTo>
                    <a:pt x="1352169" y="0"/>
                  </a:lnTo>
                  <a:lnTo>
                    <a:pt x="1727454" y="750570"/>
                  </a:lnTo>
                  <a:lnTo>
                    <a:pt x="1352169" y="1501140"/>
                  </a:lnTo>
                  <a:lnTo>
                    <a:pt x="375285" y="15011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494" t="0" r="-61494" b="0"/>
              </a:stretch>
            </a:blipFill>
            <a:ln w="28575" cap="sq">
              <a:solidFill>
                <a:srgbClr val="7AC143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5400000">
            <a:off x="10710062" y="2508885"/>
            <a:ext cx="5600405" cy="4857750"/>
            <a:chOff x="0" y="0"/>
            <a:chExt cx="7467206" cy="647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67219" cy="6477000"/>
            </a:xfrm>
            <a:custGeom>
              <a:avLst/>
              <a:gdLst/>
              <a:ahLst/>
              <a:cxnLst/>
              <a:rect r="r" b="b" t="t" l="l"/>
              <a:pathLst>
                <a:path h="6477000" w="7467219">
                  <a:moveTo>
                    <a:pt x="0" y="3238500"/>
                  </a:moveTo>
                  <a:lnTo>
                    <a:pt x="1619250" y="0"/>
                  </a:lnTo>
                  <a:lnTo>
                    <a:pt x="5847969" y="0"/>
                  </a:lnTo>
                  <a:lnTo>
                    <a:pt x="7467219" y="3238500"/>
                  </a:lnTo>
                  <a:lnTo>
                    <a:pt x="5847969" y="6477000"/>
                  </a:lnTo>
                  <a:lnTo>
                    <a:pt x="1619250" y="6477000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7AC143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166149" y="3188970"/>
            <a:ext cx="2688222" cy="3497580"/>
            <a:chOff x="0" y="0"/>
            <a:chExt cx="3584296" cy="4663440"/>
          </a:xfrm>
        </p:grpSpPr>
        <p:sp>
          <p:nvSpPr>
            <p:cNvPr name="Freeform 19" id="19" descr="Genesis logo"/>
            <p:cNvSpPr/>
            <p:nvPr/>
          </p:nvSpPr>
          <p:spPr>
            <a:xfrm flipH="false" flipV="false" rot="0">
              <a:off x="0" y="0"/>
              <a:ext cx="3584321" cy="4663440"/>
            </a:xfrm>
            <a:custGeom>
              <a:avLst/>
              <a:gdLst/>
              <a:ahLst/>
              <a:cxnLst/>
              <a:rect r="r" b="b" t="t" l="l"/>
              <a:pathLst>
                <a:path h="4663440" w="3584321">
                  <a:moveTo>
                    <a:pt x="0" y="0"/>
                  </a:moveTo>
                  <a:lnTo>
                    <a:pt x="3584321" y="0"/>
                  </a:lnTo>
                  <a:lnTo>
                    <a:pt x="3584321" y="4663440"/>
                  </a:lnTo>
                  <a:lnTo>
                    <a:pt x="0" y="466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754380"/>
            <a:ext cx="7955280" cy="480060"/>
            <a:chOff x="0" y="0"/>
            <a:chExt cx="1060704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07040" cy="640080"/>
            </a:xfrm>
            <a:custGeom>
              <a:avLst/>
              <a:gdLst/>
              <a:ahLst/>
              <a:cxnLst/>
              <a:rect r="r" b="b" t="t" l="l"/>
              <a:pathLst>
                <a:path h="64008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894" r="0" b="-27289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6070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AC1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PRE-IDEATHON TEMPLATE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22960" y="1379220"/>
            <a:ext cx="8503920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8"/>
              </a:lnSpc>
            </a:pPr>
            <a:r>
              <a:rPr lang="en-US" b="true" sz="8100" spc="299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GENESIS</a:t>
            </a:r>
          </a:p>
          <a:p>
            <a:pPr algn="l">
              <a:lnSpc>
                <a:spcPts val="8748"/>
              </a:lnSpc>
            </a:pPr>
            <a:r>
              <a:rPr lang="en-US" b="true" sz="8100" spc="299">
                <a:solidFill>
                  <a:srgbClr val="7AC143"/>
                </a:solidFill>
                <a:latin typeface="Cambria Bold"/>
                <a:ea typeface="Cambria Bold"/>
                <a:cs typeface="Cambria Bold"/>
                <a:sym typeface="Cambria Bold"/>
              </a:rPr>
              <a:t>IDEATHON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11054" y="3897154"/>
            <a:ext cx="3178492" cy="599884"/>
            <a:chOff x="0" y="0"/>
            <a:chExt cx="4237990" cy="79984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37990" cy="799846"/>
            </a:xfrm>
            <a:custGeom>
              <a:avLst/>
              <a:gdLst/>
              <a:ahLst/>
              <a:cxnLst/>
              <a:rect r="r" b="b" t="t" l="l"/>
              <a:pathLst>
                <a:path h="799846" w="4237990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lnTo>
                    <a:pt x="3838067" y="0"/>
                  </a:lnTo>
                  <a:cubicBezTo>
                    <a:pt x="4058920" y="0"/>
                    <a:pt x="4237990" y="179070"/>
                    <a:pt x="4237990" y="399923"/>
                  </a:cubicBezTo>
                  <a:cubicBezTo>
                    <a:pt x="4237990" y="620776"/>
                    <a:pt x="4058920" y="799846"/>
                    <a:pt x="3838067" y="799846"/>
                  </a:cubicBezTo>
                  <a:lnTo>
                    <a:pt x="399923" y="799846"/>
                  </a:lnTo>
                  <a:cubicBezTo>
                    <a:pt x="179070" y="799846"/>
                    <a:pt x="0" y="620776"/>
                    <a:pt x="0" y="399923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41" r="0" b="-53241"/>
              </a:stretch>
            </a:blipFill>
            <a:ln w="23812" cap="sq">
              <a:solidFill>
                <a:srgbClr val="7AC143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4237990" cy="847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b="true" sz="1950" spc="4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&amp; DOMAIN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4663440"/>
            <a:ext cx="8503920" cy="548640"/>
            <a:chOff x="0" y="0"/>
            <a:chExt cx="1133856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1338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D3E6D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Introduce your team and the domain you have chosen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25338" y="5110639"/>
            <a:ext cx="7301503" cy="85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Team Name –LARPSTACK</a:t>
            </a:r>
          </a:p>
          <a:p>
            <a:pPr algn="l">
              <a:lnSpc>
                <a:spcPts val="3223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Team Members –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828782" y="5546731"/>
            <a:ext cx="5947105" cy="1259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ADHITHYAN A S[CB.PS.I5MAT25001]</a:t>
            </a:r>
          </a:p>
          <a:p>
            <a:pPr algn="ctr">
              <a:lnSpc>
                <a:spcPts val="3223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DIVYA SRI K[ CB.PS.I5DAS25107]</a:t>
            </a:r>
          </a:p>
          <a:p>
            <a:pPr algn="ctr">
              <a:lnSpc>
                <a:spcPts val="3223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3671030" y="6337306"/>
            <a:ext cx="5947105" cy="85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AKCHARA P [CB.AI.U4QTS25004]</a:t>
            </a:r>
          </a:p>
          <a:p>
            <a:pPr algn="l">
              <a:lnSpc>
                <a:spcPts val="3223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KAVIN PRASATH A R [CB.SC.U4CSE25329]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5338" y="7977664"/>
            <a:ext cx="9193444" cy="168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Statement – Manufacturing facilities lack an affordable way to monitor worker–vehicle movement, identify safety and workflow bottlenecks, and test improved layouts before physical implementation.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9990" y="7206139"/>
            <a:ext cx="9365590" cy="85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Selected Domain –DOMAIN 3: Advanced Materials,Manufacturing &amp; Industrial Innovation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84384" y="5295900"/>
            <a:ext cx="85725" cy="85725"/>
            <a:chOff x="0" y="0"/>
            <a:chExt cx="85725" cy="857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5725" cy="85725"/>
            </a:xfrm>
            <a:custGeom>
              <a:avLst/>
              <a:gdLst/>
              <a:ahLst/>
              <a:cxnLst/>
              <a:rect r="r" b="b" t="t" l="l"/>
              <a:pathLst>
                <a:path h="85725" w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799" y="0"/>
                  </a:cubicBezTo>
                  <a:cubicBezTo>
                    <a:pt x="48387" y="0"/>
                    <a:pt x="53975" y="1143"/>
                    <a:pt x="59182" y="3302"/>
                  </a:cubicBezTo>
                  <a:cubicBezTo>
                    <a:pt x="64389" y="5461"/>
                    <a:pt x="69088" y="8636"/>
                    <a:pt x="73025" y="12573"/>
                  </a:cubicBezTo>
                  <a:cubicBezTo>
                    <a:pt x="76962" y="16510"/>
                    <a:pt x="80137" y="21209"/>
                    <a:pt x="82296" y="26416"/>
                  </a:cubicBezTo>
                  <a:cubicBezTo>
                    <a:pt x="84455" y="31623"/>
                    <a:pt x="85598" y="37084"/>
                    <a:pt x="85598" y="42799"/>
                  </a:cubicBez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84384" y="5705475"/>
            <a:ext cx="85725" cy="85725"/>
            <a:chOff x="0" y="0"/>
            <a:chExt cx="85725" cy="8572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5725" cy="85725"/>
            </a:xfrm>
            <a:custGeom>
              <a:avLst/>
              <a:gdLst/>
              <a:ahLst/>
              <a:cxnLst/>
              <a:rect r="r" b="b" t="t" l="l"/>
              <a:pathLst>
                <a:path h="85725" w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799" y="0"/>
                  </a:cubicBezTo>
                  <a:cubicBezTo>
                    <a:pt x="48387" y="0"/>
                    <a:pt x="53975" y="1143"/>
                    <a:pt x="59182" y="3302"/>
                  </a:cubicBezTo>
                  <a:cubicBezTo>
                    <a:pt x="64389" y="5461"/>
                    <a:pt x="69088" y="8636"/>
                    <a:pt x="73025" y="12573"/>
                  </a:cubicBezTo>
                  <a:cubicBezTo>
                    <a:pt x="76962" y="16510"/>
                    <a:pt x="80137" y="21209"/>
                    <a:pt x="82296" y="26416"/>
                  </a:cubicBezTo>
                  <a:cubicBezTo>
                    <a:pt x="84455" y="31623"/>
                    <a:pt x="85598" y="37084"/>
                    <a:pt x="85598" y="42799"/>
                  </a:cubicBez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68191" y="7381875"/>
            <a:ext cx="85725" cy="85725"/>
            <a:chOff x="0" y="0"/>
            <a:chExt cx="85725" cy="8572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5725" cy="85725"/>
            </a:xfrm>
            <a:custGeom>
              <a:avLst/>
              <a:gdLst/>
              <a:ahLst/>
              <a:cxnLst/>
              <a:rect r="r" b="b" t="t" l="l"/>
              <a:pathLst>
                <a:path h="85725" w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84384" y="8162925"/>
            <a:ext cx="85725" cy="85725"/>
            <a:chOff x="0" y="0"/>
            <a:chExt cx="85725" cy="8572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5725" cy="85725"/>
            </a:xfrm>
            <a:custGeom>
              <a:avLst/>
              <a:gdLst/>
              <a:ahLst/>
              <a:cxnLst/>
              <a:rect r="r" b="b" t="t" l="l"/>
              <a:pathLst>
                <a:path h="85725" w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799" y="0"/>
                  </a:cubicBezTo>
                  <a:cubicBezTo>
                    <a:pt x="48387" y="0"/>
                    <a:pt x="53975" y="1143"/>
                    <a:pt x="59182" y="3302"/>
                  </a:cubicBezTo>
                  <a:cubicBezTo>
                    <a:pt x="64389" y="5461"/>
                    <a:pt x="69088" y="8636"/>
                    <a:pt x="73025" y="12573"/>
                  </a:cubicBezTo>
                  <a:cubicBezTo>
                    <a:pt x="76962" y="16510"/>
                    <a:pt x="80137" y="21209"/>
                    <a:pt x="82296" y="26416"/>
                  </a:cubicBezTo>
                  <a:cubicBezTo>
                    <a:pt x="84455" y="31623"/>
                    <a:pt x="85598" y="37084"/>
                    <a:pt x="85598" y="42799"/>
                  </a:cubicBezTo>
                  <a:close/>
                </a:path>
              </a:pathLst>
            </a:custGeom>
            <a:solidFill>
              <a:srgbClr val="7AC143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DOMAIN PROBLEM IN OUR WORDS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4" id="24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LARPSTACK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31" id="31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Explain the problem in your domain simply, in your own words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03020" y="3166110"/>
            <a:ext cx="15636240" cy="333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situation: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Factories already have CCTV on the floor, but the footage is mostly used after something goes wrong. It records movement without explaining it.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problem: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Workers, forklifts and materials share the same space, and nobody can easily see where risks, queues and detours build up and what if simulations.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needs solving: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Turning existing camera footage into tracked positions, safety alerts and a virtual factory that can be used to test changes.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now: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OSHA estimates about 85 deaths and 35,000 serious injuries a year from forklifts in the US, and computer vision is now practical on existing cameras.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WHO IS AFFECTED?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4" id="24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28" id="28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users, stakeholders, beneficiaries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03020" y="3166110"/>
            <a:ext cx="15636240" cy="6297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Primary users: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supervisors, safety officers and plant managers who need alerts, heatmaps and evidence instead of watching screens.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Directly affected: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workers and forklift operators who share narrow aisles, blind spots and restricted zones.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Secondary stakeholders: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plant owners, logistics and maintenance teams, auditors and insurers, who care about incidents, downtime and compliance.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Who benefits: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workers (a safer floor), supervisors (less manual watching), the factory (smoother flow, lower cost), and small plants that cannot afford sensor-heavy systems.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LARPSTACK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CURRENT SITUATION &amp; CONTEXT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4" id="24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28" id="28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Existing scenario, background and how things work today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03020" y="3166110"/>
            <a:ext cx="15636240" cy="6297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Scenario: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CCTV cameras are installed mainly for security and incident review; zones and walkways are marked with paint and signs.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Fact: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OSHA estimates about 85 deaths and 34,900 serious injuries a year from forklifts in the US; pedestrians struck by forklifts are a leading cause of the deaths.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Workflow today: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cameras record, a person watches a few screens, footage is reviewed only after an accident or complaint, and layout changes are decided from experience and tried on the live floor.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digital twins mostly model machines and processes, so how people and vehicles move is still the least-measured part of the floor.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LARPSTACK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CHALLENGES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4" id="24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28" id="28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Main difficulties, bottlenecks, root causes and consequences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03020" y="3166110"/>
            <a:ext cx="15636240" cy="6297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Hidden risks: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restricted-zone entries and close worker–forklift passes happen in seconds and leave no record.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Bottlenecks: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queues at junctions and long detours are hard to see by eye, and one person cannot watch every camera all shift.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Costly change: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layouts are tested on the real floor, with disruption and risk for workers.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Root cause: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video is stored but never converted into positions, zones and trends.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If unsolved: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accidents become the first warning, and time, material and money keep being lost.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LARPSTACK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EXISTING SOLUTIONS / APPROACHES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4" id="24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28" id="28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already being done, and where it falls short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03020" y="3166110"/>
            <a:ext cx="15636240" cy="6297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Manual CCTV monitoring: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staff watch feeds. Falls short: reactive, tiring and does not scale.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Training, SOPs, floor markings, alarms: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rely on people following rules, with no live view of what really happens.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Tags, RFID and proximity sensors: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every person and vehicle needs hardware, which adds cost and upkeep.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 analytics and digital twin platforms: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often costly and integration-heavy, and rarely combine live movement with layout simulation.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gap: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a low-cost way to reuse existing cameras, understand real movement and test changes virtually first.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LARPSTACK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 INSIGHTS &amp; OPPORTUNITY AREAS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4" id="24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28" id="28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Resources required to solve the problem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03020" y="3166110"/>
            <a:ext cx="15636240" cy="6297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Insight: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already exists in camera footage. The opportunity is real-time safety alerts, bottleneck analytics and virtual layout testing.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Hardware: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CCTV / IP cameras, a GPU workstation or edge device, a network switch with video storage, and a screen for the dashboard.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Software: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and OpenCV, object detection (e.g. YOLO) and tracking (e.g. ByteTrack), camera-to-floor-plan mapping, and a digital twin and dashboard (e.g. Unity or Three.js) with a database.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Other resources: 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a team covering vision, backend, twin/UI and research; a safety officer as domain mentor; sample footage and a floor plan from a pilot site; privacy rules such as blurring faces.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LARPSTACK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INITIAL DIRECTION &amp; EXPECTED OUTCOME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LARPSTACK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689821" y="4235025"/>
            <a:ext cx="4444108" cy="2666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532"/>
              </a:lnSpc>
              <a:buFont typeface="Arial"/>
              <a:buChar char="•"/>
            </a:pPr>
            <a:r>
              <a:rPr lang="en-US" sz="1875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Detect workers and forklifts in existing footage</a:t>
            </a:r>
          </a:p>
          <a:p>
            <a:pPr algn="l" marL="339328" indent="-169664" lvl="1">
              <a:lnSpc>
                <a:spcPts val="2532"/>
              </a:lnSpc>
              <a:buFont typeface="Arial"/>
              <a:buChar char="•"/>
            </a:pPr>
            <a:r>
              <a:rPr lang="en-US" sz="1875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Track them and place them on a virtual floor plan</a:t>
            </a:r>
          </a:p>
          <a:p>
            <a:pPr algn="l" marL="339328" indent="-169664" lvl="1">
              <a:lnSpc>
                <a:spcPts val="2532"/>
              </a:lnSpc>
              <a:buFont typeface="Arial"/>
              <a:buChar char="•"/>
            </a:pPr>
            <a:r>
              <a:rPr lang="en-US" sz="1875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Flag zone violations, close calls and congestion</a:t>
            </a:r>
          </a:p>
          <a:p>
            <a:pPr algn="l" marL="339328" indent="-169664" lvl="1">
              <a:lnSpc>
                <a:spcPts val="2532"/>
              </a:lnSpc>
              <a:buFont typeface="Arial"/>
              <a:buChar char="•"/>
            </a:pPr>
            <a:r>
              <a:rPr lang="en-US" sz="1875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Use the twin to test alternative routes and layouts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061825" y="4235025"/>
            <a:ext cx="4444251" cy="222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532"/>
              </a:lnSpc>
              <a:buFont typeface="Arial"/>
              <a:buChar char="•"/>
            </a:pPr>
            <a:r>
              <a:rPr lang="en-US" sz="1875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Safety awareness without constant manual watching</a:t>
            </a:r>
          </a:p>
          <a:p>
            <a:pPr algn="l" marL="339328" indent="-169664" lvl="1">
              <a:lnSpc>
                <a:spcPts val="2532"/>
              </a:lnSpc>
              <a:buFont typeface="Arial"/>
              <a:buChar char="•"/>
            </a:pPr>
            <a:r>
              <a:rPr lang="en-US" sz="1875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Movement efficiency and material flow</a:t>
            </a:r>
          </a:p>
          <a:p>
            <a:pPr algn="l" marL="339328" indent="-169664" lvl="1">
              <a:lnSpc>
                <a:spcPts val="2532"/>
              </a:lnSpc>
              <a:buFont typeface="Arial"/>
              <a:buChar char="•"/>
            </a:pPr>
            <a:r>
              <a:rPr lang="en-US" sz="1875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Layout decisions made with data, not guesses</a:t>
            </a:r>
          </a:p>
          <a:p>
            <a:pPr algn="l" marL="339328" indent="-169664" lvl="1">
              <a:lnSpc>
                <a:spcPts val="2532"/>
              </a:lnSpc>
              <a:buFont typeface="Arial"/>
              <a:buChar char="•"/>
            </a:pPr>
            <a:r>
              <a:rPr lang="en-US" sz="1875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Use of cameras the plant already owns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32658" y="3783663"/>
            <a:ext cx="4612700" cy="41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B35400"/>
                </a:solidFill>
                <a:latin typeface="Arial Bold"/>
                <a:ea typeface="Arial Bold"/>
                <a:cs typeface="Arial Bold"/>
                <a:sym typeface="Arial Bold"/>
              </a:rPr>
              <a:t>What we will do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904663" y="3783663"/>
            <a:ext cx="4612843" cy="41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B35400"/>
                </a:solidFill>
                <a:latin typeface="Arial Bold"/>
                <a:ea typeface="Arial Bold"/>
                <a:cs typeface="Arial Bold"/>
                <a:sym typeface="Arial Bold"/>
              </a:rPr>
              <a:t>What we will improve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19152" y="2575141"/>
            <a:ext cx="1029119" cy="637899"/>
            <a:chOff x="0" y="0"/>
            <a:chExt cx="1372159" cy="85053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72108" cy="850519"/>
            </a:xfrm>
            <a:custGeom>
              <a:avLst/>
              <a:gdLst/>
              <a:ahLst/>
              <a:cxnLst/>
              <a:rect r="r" b="b" t="t" l="l"/>
              <a:pathLst>
                <a:path h="850519" w="137210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219708" y="0"/>
                  </a:lnTo>
                  <a:cubicBezTo>
                    <a:pt x="1303909" y="0"/>
                    <a:pt x="1372108" y="68199"/>
                    <a:pt x="1372108" y="152400"/>
                  </a:cubicBezTo>
                  <a:lnTo>
                    <a:pt x="1372108" y="698119"/>
                  </a:lnTo>
                  <a:cubicBezTo>
                    <a:pt x="1372108" y="782320"/>
                    <a:pt x="1303909" y="850519"/>
                    <a:pt x="1219708" y="850519"/>
                  </a:cubicBezTo>
                  <a:lnTo>
                    <a:pt x="152400" y="850519"/>
                  </a:lnTo>
                  <a:cubicBezTo>
                    <a:pt x="68199" y="850519"/>
                    <a:pt x="0" y="782320"/>
                    <a:pt x="0" y="698119"/>
                  </a:cubicBezTo>
                  <a:close/>
                </a:path>
              </a:pathLst>
            </a:custGeom>
            <a:solidFill>
              <a:srgbClr val="14202B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1372159" cy="917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4F1E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CCTV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2400548" y="2660742"/>
            <a:ext cx="314325" cy="4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2790939" y="2575141"/>
            <a:ext cx="1982305" cy="637899"/>
            <a:chOff x="0" y="0"/>
            <a:chExt cx="2643073" cy="85053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643124" cy="850519"/>
            </a:xfrm>
            <a:custGeom>
              <a:avLst/>
              <a:gdLst/>
              <a:ahLst/>
              <a:cxnLst/>
              <a:rect r="r" b="b" t="t" l="l"/>
              <a:pathLst>
                <a:path h="850519" w="2643124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490724" y="0"/>
                  </a:lnTo>
                  <a:cubicBezTo>
                    <a:pt x="2574925" y="0"/>
                    <a:pt x="2643124" y="68199"/>
                    <a:pt x="2643124" y="152400"/>
                  </a:cubicBezTo>
                  <a:lnTo>
                    <a:pt x="2643124" y="698119"/>
                  </a:lnTo>
                  <a:cubicBezTo>
                    <a:pt x="2643124" y="782320"/>
                    <a:pt x="2574925" y="850519"/>
                    <a:pt x="2490724" y="850519"/>
                  </a:cubicBezTo>
                  <a:lnTo>
                    <a:pt x="152400" y="850519"/>
                  </a:lnTo>
                  <a:cubicBezTo>
                    <a:pt x="68199" y="850519"/>
                    <a:pt x="0" y="782320"/>
                    <a:pt x="0" y="698119"/>
                  </a:cubicBezTo>
                  <a:close/>
                </a:path>
              </a:pathLst>
            </a:custGeom>
            <a:solidFill>
              <a:srgbClr val="14202B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2643073" cy="917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4F1E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Detect &amp; track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4925520" y="2660742"/>
            <a:ext cx="314325" cy="4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5315922" y="2575141"/>
            <a:ext cx="2298983" cy="637899"/>
            <a:chOff x="0" y="0"/>
            <a:chExt cx="3065310" cy="85053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065272" cy="850519"/>
            </a:xfrm>
            <a:custGeom>
              <a:avLst/>
              <a:gdLst/>
              <a:ahLst/>
              <a:cxnLst/>
              <a:rect r="r" b="b" t="t" l="l"/>
              <a:pathLst>
                <a:path h="850519" w="3065272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912872" y="0"/>
                  </a:lnTo>
                  <a:cubicBezTo>
                    <a:pt x="2997073" y="0"/>
                    <a:pt x="3065272" y="68199"/>
                    <a:pt x="3065272" y="152400"/>
                  </a:cubicBezTo>
                  <a:lnTo>
                    <a:pt x="3065272" y="698119"/>
                  </a:lnTo>
                  <a:cubicBezTo>
                    <a:pt x="3065272" y="782320"/>
                    <a:pt x="2997073" y="850519"/>
                    <a:pt x="2912872" y="850519"/>
                  </a:cubicBezTo>
                  <a:lnTo>
                    <a:pt x="152400" y="850519"/>
                  </a:lnTo>
                  <a:cubicBezTo>
                    <a:pt x="68199" y="850519"/>
                    <a:pt x="0" y="782320"/>
                    <a:pt x="0" y="698119"/>
                  </a:cubicBezTo>
                  <a:close/>
                </a:path>
              </a:pathLst>
            </a:custGeom>
            <a:solidFill>
              <a:srgbClr val="14202B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3065310" cy="917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4F1E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Map to floor plan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7767171" y="2660742"/>
            <a:ext cx="314325" cy="4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8157572" y="2575141"/>
            <a:ext cx="2590571" cy="637899"/>
            <a:chOff x="0" y="0"/>
            <a:chExt cx="3454095" cy="85053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454146" cy="850519"/>
            </a:xfrm>
            <a:custGeom>
              <a:avLst/>
              <a:gdLst/>
              <a:ahLst/>
              <a:cxnLst/>
              <a:rect r="r" b="b" t="t" l="l"/>
              <a:pathLst>
                <a:path h="850519" w="3454146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3301746" y="0"/>
                  </a:lnTo>
                  <a:cubicBezTo>
                    <a:pt x="3385947" y="0"/>
                    <a:pt x="3454146" y="68199"/>
                    <a:pt x="3454146" y="152400"/>
                  </a:cubicBezTo>
                  <a:lnTo>
                    <a:pt x="3454146" y="698119"/>
                  </a:lnTo>
                  <a:cubicBezTo>
                    <a:pt x="3454146" y="782320"/>
                    <a:pt x="3385947" y="850519"/>
                    <a:pt x="3301746" y="850519"/>
                  </a:cubicBezTo>
                  <a:lnTo>
                    <a:pt x="152400" y="850519"/>
                  </a:lnTo>
                  <a:cubicBezTo>
                    <a:pt x="68199" y="850519"/>
                    <a:pt x="0" y="782320"/>
                    <a:pt x="0" y="698119"/>
                  </a:cubicBezTo>
                  <a:close/>
                </a:path>
              </a:pathLst>
            </a:custGeom>
            <a:solidFill>
              <a:srgbClr val="14202B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3454095" cy="917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4F1E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Digital twin &amp; alerts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0900420" y="2660742"/>
            <a:ext cx="314325" cy="4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1290821" y="2575141"/>
            <a:ext cx="1373486" cy="637899"/>
            <a:chOff x="0" y="0"/>
            <a:chExt cx="1831315" cy="85053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31340" cy="850519"/>
            </a:xfrm>
            <a:custGeom>
              <a:avLst/>
              <a:gdLst/>
              <a:ahLst/>
              <a:cxnLst/>
              <a:rect r="r" b="b" t="t" l="l"/>
              <a:pathLst>
                <a:path h="850519" w="183134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678940" y="0"/>
                  </a:lnTo>
                  <a:cubicBezTo>
                    <a:pt x="1763141" y="0"/>
                    <a:pt x="1831340" y="68199"/>
                    <a:pt x="1831340" y="152400"/>
                  </a:cubicBezTo>
                  <a:lnTo>
                    <a:pt x="1831340" y="698119"/>
                  </a:lnTo>
                  <a:cubicBezTo>
                    <a:pt x="1831340" y="782320"/>
                    <a:pt x="1763141" y="850519"/>
                    <a:pt x="1678940" y="850519"/>
                  </a:cubicBezTo>
                  <a:lnTo>
                    <a:pt x="152400" y="850519"/>
                  </a:lnTo>
                  <a:cubicBezTo>
                    <a:pt x="68199" y="850519"/>
                    <a:pt x="0" y="782320"/>
                    <a:pt x="0" y="698119"/>
                  </a:cubicBezTo>
                  <a:close/>
                </a:path>
              </a:pathLst>
            </a:custGeom>
            <a:solidFill>
              <a:srgbClr val="B35400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1831315" cy="917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Simulate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1564036" y="4130345"/>
            <a:ext cx="5324475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04812" indent="-202406" lvl="1">
              <a:lnSpc>
                <a:spcPts val="2625"/>
              </a:lnSpc>
              <a:spcBef>
                <a:spcPct val="0"/>
              </a:spcBef>
              <a:buFont typeface="Arial"/>
              <a:buChar char="•"/>
            </a:pPr>
            <a:r>
              <a:rPr lang="en-US" sz="18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Improved factory-fl</a:t>
            </a:r>
            <a:r>
              <a:rPr lang="en-US" sz="18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oor safety awareness.</a:t>
            </a:r>
          </a:p>
          <a:p>
            <a:pPr algn="ctr" marL="404812" indent="-202406" lvl="1">
              <a:lnSpc>
                <a:spcPts val="2625"/>
              </a:lnSpc>
              <a:spcBef>
                <a:spcPct val="0"/>
              </a:spcBef>
              <a:buFont typeface="Arial"/>
              <a:buChar char="•"/>
            </a:pPr>
            <a:r>
              <a:rPr lang="en-US" sz="18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worker and vehicle tracking.</a:t>
            </a:r>
          </a:p>
          <a:p>
            <a:pPr algn="ctr" marL="404812" indent="-202406" lvl="1">
              <a:lnSpc>
                <a:spcPts val="2625"/>
              </a:lnSpc>
              <a:spcBef>
                <a:spcPct val="0"/>
              </a:spcBef>
              <a:buFont typeface="Arial"/>
              <a:buChar char="•"/>
            </a:pPr>
            <a:r>
              <a:rPr lang="en-US" sz="18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Early identification of bottlenecks and risks.</a:t>
            </a:r>
          </a:p>
          <a:p>
            <a:pPr algn="ctr" marL="404812" indent="-202406" lvl="1">
              <a:lnSpc>
                <a:spcPts val="2625"/>
              </a:lnSpc>
              <a:spcBef>
                <a:spcPct val="0"/>
              </a:spcBef>
              <a:buFont typeface="Arial"/>
              <a:buChar char="•"/>
            </a:pPr>
            <a:r>
              <a:rPr lang="en-US" sz="18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Better movement and workflow efficiency.</a:t>
            </a:r>
          </a:p>
          <a:p>
            <a:pPr algn="ctr" marL="404812" indent="-202406" lvl="1">
              <a:lnSpc>
                <a:spcPts val="2625"/>
              </a:lnSpc>
              <a:spcBef>
                <a:spcPct val="0"/>
              </a:spcBef>
              <a:buFont typeface="Arial"/>
              <a:buChar char="•"/>
            </a:pPr>
            <a:r>
              <a:rPr lang="en-US" sz="18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Virtual evaluation of alternative factory layouts.</a:t>
            </a:r>
          </a:p>
          <a:p>
            <a:pPr algn="ctr" marL="404812" indent="-202406" lvl="1">
              <a:lnSpc>
                <a:spcPts val="2625"/>
              </a:lnSpc>
              <a:spcBef>
                <a:spcPct val="0"/>
              </a:spcBef>
              <a:buFont typeface="Arial"/>
              <a:buChar char="•"/>
            </a:pPr>
            <a:r>
              <a:rPr lang="en-US" sz="18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Affordable use of existing CCTV infrastructure</a:t>
            </a:r>
            <a:r>
              <a:rPr lang="en-US" b="true" sz="187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  <a:p>
            <a:pPr algn="ctr">
              <a:lnSpc>
                <a:spcPts val="2625"/>
              </a:lnSpc>
              <a:spcBef>
                <a:spcPct val="0"/>
              </a:spcBef>
            </a:pPr>
          </a:p>
          <a:p>
            <a:pPr algn="ctr">
              <a:lnSpc>
                <a:spcPts val="2625"/>
              </a:lnSpc>
              <a:spcBef>
                <a:spcPct val="0"/>
              </a:spcBef>
            </a:pPr>
          </a:p>
          <a:p>
            <a:pPr algn="ctr">
              <a:lnSpc>
                <a:spcPts val="2625"/>
              </a:lnSpc>
              <a:spcBef>
                <a:spcPct val="0"/>
              </a:spcBef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12276801" y="3783663"/>
            <a:ext cx="4612843" cy="41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B35400"/>
                </a:solidFill>
                <a:latin typeface="Arial Bold"/>
                <a:ea typeface="Arial Bold"/>
                <a:cs typeface="Arial Bold"/>
                <a:sym typeface="Arial Bold"/>
              </a:rPr>
              <a:t>Success looks like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DAHXiZhz-DI</dc:identifier>
  <dcterms:modified xsi:type="dcterms:W3CDTF">2011-08-01T06:04:30Z</dcterms:modified>
  <cp:revision>1</cp:revision>
  <dc:title>TEAM LARPSTACK</dc:title>
</cp:coreProperties>
</file>